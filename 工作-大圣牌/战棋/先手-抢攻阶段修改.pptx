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77C30-A86C-DBCF-3440-03CC429A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6121AD-1423-5124-6F8A-503C19599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A85E6-5BDB-C876-F6DC-8FFCF99B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614EC0-B4A4-499D-3B34-8623206CA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CA4083-273A-BD06-9128-DFFA69DA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81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475BF-AAFE-23F8-4538-40637E53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517513-89C3-A8BA-4F7F-1DA601274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03738-A1D2-F2DF-744A-0E3C3A9C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982F9E-C3F8-0931-303F-168990436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E8088F-0B61-386B-EE08-B53F4FE97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355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8532A-867C-2A1B-897F-9B9CA1B02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C7391-779E-E953-5290-503389C72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A4D350-E477-237A-3FED-58A529C18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EE62BA-E2DE-9BF9-D3BE-B67C65041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161476-4F8D-48E5-C75B-80F7D3F65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47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5DD4E-6369-D0D0-549A-92142745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815C0B-C694-2118-A56F-F7124209B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ADE7E7-AC76-2E36-1D4D-02FD580B7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8DDAE4-0994-7C9B-7C88-D62372B3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AE94A9-5B27-DE4A-994C-39E2A59E3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75FE2D-30B8-E8AB-CF61-827F9D44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74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7F5AD5-D490-5B32-ED59-D983891D2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4BB682-ECB2-B201-E915-A8507692D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FC19C9-3BA8-EC09-90FB-FB1117D7E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12E253-B593-D3C9-60E7-147107E37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562C6B-ACC3-F765-A650-1C21EE6E8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EBF943-5A6E-6DCC-6BB8-53025CE26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5BB7C4-CE01-BD84-A50B-792E5B523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F6BC84-FC77-62EC-EE3F-FC93C7BE4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44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2E13A-63E1-53AE-DB8B-31EDCC93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8A7A33-0CE9-4008-2A5D-FEAE3128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078C15-6928-18D0-B02F-34CE72C6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3A1430-EBF2-2982-61E2-5A1A9933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1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3CDFC5-E1F0-B8C0-E316-5FA71332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4FE5DA-B781-B058-C674-FCD594FBA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AC861A-00A1-7174-FFCC-DE847AD6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35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E288C-714E-C215-C66A-52AEA0117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D0921B-F2AB-F308-6DAC-4F0FEEE6C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C4D056-AE29-B25E-6869-19227F19E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5AD2D4-ED43-CE21-2602-907D8FFF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119CC2-8A03-9C11-C872-60083D79F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047AB1-5E10-D0FA-8E73-0C017E46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224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43F68-DCC0-3BFC-CC80-A99B956F1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62BFDB-8CC5-AC9E-D7A6-C36FAAC4E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11AD22-55D2-F19E-890D-D63FF1B61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24C691-1131-BAE8-38C2-FDBC597D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BCED20-945A-0E6B-2153-EF9C958E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9F4B81-BF58-BB60-CBBC-B65E4E17F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2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A3EBF-8D4A-5810-7851-DFF75E404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9228DC-EDF4-9DEC-7AC2-B86D7E49F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FF54A-5835-7BC7-CDD2-E963F346E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1B160F-0386-F8D2-1B4A-04FE6B5E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D1A56F-2A21-5F31-539B-D81825FC6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65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AEC2D0-AD0C-0769-0BDF-441C44A80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BC90DA-20A5-C597-BD00-BFD1CD6F4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AFEEB9-709D-FE7D-1826-FD616284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DCEDD-BB21-79D5-3787-F6D081EC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DCC7B2-17F8-9456-245E-28A5D97B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102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73707D-E521-49FD-A6FD-A2F6CD5E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760AAE-0D04-8FAA-F567-FD94013DB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59A98A-C257-02FB-6C4E-F3625F2D7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C3039-3930-4324-8497-801781B9B40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6EBBE-6319-4B76-1A30-10B27E875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1A2C9-8BF1-F8AB-413C-3126BC7CB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27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E7A5569-40B7-C3BB-9409-4EAAF8C806E5}"/>
              </a:ext>
            </a:extLst>
          </p:cNvPr>
          <p:cNvSpPr txBox="1"/>
          <p:nvPr/>
        </p:nvSpPr>
        <p:spPr>
          <a:xfrm>
            <a:off x="352425" y="24765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先手</a:t>
            </a:r>
            <a:r>
              <a:rPr lang="en-US" altLang="zh-CN" dirty="0"/>
              <a:t>——</a:t>
            </a:r>
            <a:r>
              <a:rPr lang="zh-CN" altLang="en-US" dirty="0"/>
              <a:t>抢攻阶段修改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039F37-C388-CCA2-E419-DD5EE8654B4D}"/>
              </a:ext>
            </a:extLst>
          </p:cNvPr>
          <p:cNvSpPr txBox="1"/>
          <p:nvPr/>
        </p:nvSpPr>
        <p:spPr>
          <a:xfrm>
            <a:off x="352425" y="819850"/>
            <a:ext cx="11511302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>
                <a:solidFill>
                  <a:schemeClr val="bg1"/>
                </a:solidFill>
              </a:rPr>
              <a:t>1.</a:t>
            </a:r>
            <a:r>
              <a:rPr lang="zh-CN" altLang="zh-CN" dirty="0">
                <a:solidFill>
                  <a:schemeClr val="bg1"/>
                </a:solidFill>
              </a:rPr>
              <a:t>战斗开始阶段：在进入战斗后，战斗开始时的技能会先触发，优先级为大圣技能</a:t>
            </a:r>
            <a:r>
              <a:rPr lang="en-US" altLang="zh-CN" dirty="0">
                <a:solidFill>
                  <a:schemeClr val="bg1"/>
                </a:solidFill>
              </a:rPr>
              <a:t>&gt;</a:t>
            </a:r>
            <a:r>
              <a:rPr lang="zh-CN" altLang="zh-CN" dirty="0">
                <a:solidFill>
                  <a:schemeClr val="bg1"/>
                </a:solidFill>
              </a:rPr>
              <a:t>神通技能</a:t>
            </a:r>
            <a:r>
              <a:rPr lang="en-US" altLang="zh-CN" dirty="0">
                <a:solidFill>
                  <a:schemeClr val="bg1"/>
                </a:solidFill>
              </a:rPr>
              <a:t>&gt;</a:t>
            </a:r>
            <a:r>
              <a:rPr lang="zh-CN" altLang="zh-CN" dirty="0">
                <a:solidFill>
                  <a:schemeClr val="bg1"/>
                </a:solidFill>
              </a:rPr>
              <a:t>法宝技能。若双方大圣都有战斗开始时技能则随机一方先触发。</a:t>
            </a:r>
          </a:p>
          <a:p>
            <a:pPr lvl="0"/>
            <a:r>
              <a:rPr lang="en-US" altLang="zh-CN" dirty="0">
                <a:solidFill>
                  <a:schemeClr val="bg1"/>
                </a:solidFill>
              </a:rPr>
              <a:t>2.</a:t>
            </a:r>
            <a:r>
              <a:rPr lang="zh-CN" altLang="en-US" dirty="0">
                <a:solidFill>
                  <a:schemeClr val="bg1"/>
                </a:solidFill>
              </a:rPr>
              <a:t>判定先攻</a:t>
            </a:r>
            <a:r>
              <a:rPr lang="zh-CN" altLang="zh-CN" dirty="0">
                <a:solidFill>
                  <a:schemeClr val="bg1"/>
                </a:solidFill>
              </a:rPr>
              <a:t>阶段：依据双方上阵部将数量决定哪方获得先手权——先发起攻击，若双方上阵部将数量相同，则随机一方获得先手权。若下场对战同一个对手，则交换先手权。</a:t>
            </a:r>
            <a:endParaRPr lang="en-US" altLang="zh-CN" dirty="0">
              <a:solidFill>
                <a:schemeClr val="bg1"/>
              </a:solidFill>
            </a:endParaRPr>
          </a:p>
          <a:p>
            <a:pPr lvl="0"/>
            <a:r>
              <a:rPr lang="en-US" altLang="zh-CN" dirty="0">
                <a:solidFill>
                  <a:schemeClr val="bg1"/>
                </a:solidFill>
              </a:rPr>
              <a:t>3.</a:t>
            </a:r>
            <a:r>
              <a:rPr lang="zh-CN" altLang="zh-CN" dirty="0">
                <a:solidFill>
                  <a:schemeClr val="bg1"/>
                </a:solidFill>
              </a:rPr>
              <a:t>抢攻阶段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r>
              <a:rPr lang="zh-CN" altLang="zh-CN" dirty="0">
                <a:solidFill>
                  <a:schemeClr val="bg1"/>
                </a:solidFill>
              </a:rPr>
              <a:t>此阶段会对场上存在的抢攻特性部将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zh-CN" altLang="en-US" dirty="0">
                <a:solidFill>
                  <a:schemeClr val="bg1"/>
                </a:solidFill>
              </a:rPr>
              <a:t>如地藏王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  <a:r>
              <a:rPr lang="zh-CN" altLang="zh-CN" dirty="0">
                <a:solidFill>
                  <a:schemeClr val="bg1"/>
                </a:solidFill>
              </a:rPr>
              <a:t>进行判定，带有抢攻特性的部将可以在先手攻击前先触发其抢功效果，抢功触发的先后根据部将自身的攻击力高低进行依次排序，若攻击力相同则根据从左到右顺序排序，若全部相同则随机。</a:t>
            </a:r>
            <a:endParaRPr lang="en-US" altLang="zh-CN" dirty="0">
              <a:solidFill>
                <a:schemeClr val="bg1"/>
              </a:solidFill>
            </a:endParaRPr>
          </a:p>
          <a:p>
            <a:pPr lvl="0"/>
            <a:r>
              <a:rPr lang="en-US" altLang="zh-CN" dirty="0">
                <a:solidFill>
                  <a:schemeClr val="bg1"/>
                </a:solidFill>
              </a:rPr>
              <a:t>4.</a:t>
            </a:r>
            <a:r>
              <a:rPr lang="zh-CN" altLang="zh-CN" dirty="0">
                <a:solidFill>
                  <a:schemeClr val="bg1"/>
                </a:solidFill>
              </a:rPr>
              <a:t>攻击阶段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r>
              <a:rPr lang="zh-CN" altLang="zh-CN" dirty="0">
                <a:solidFill>
                  <a:schemeClr val="bg1"/>
                </a:solidFill>
              </a:rPr>
              <a:t>在抢攻阶段结束后进入攻击阶段，获得先手权的玩家的左侧第一个部将先发起进攻。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B67FA6-9E8B-93EA-D934-CCC312C716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129" y="616982"/>
            <a:ext cx="11647597" cy="3247619"/>
          </a:xfrm>
          <a:prstGeom prst="rect">
            <a:avLst/>
          </a:prstGeom>
        </p:spPr>
      </p:pic>
      <p:pic>
        <p:nvPicPr>
          <p:cNvPr id="11" name="movie_275">
            <a:hlinkClick r:id="" action="ppaction://media"/>
            <a:extLst>
              <a:ext uri="{FF2B5EF4-FFF2-40B4-BE49-F238E27FC236}">
                <a16:creationId xmlns:a16="http://schemas.microsoft.com/office/drawing/2014/main" id="{AF663AE9-D78E-D1F6-C02A-4732BA01477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28063" y="4310133"/>
            <a:ext cx="2720623" cy="15303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5901428-DA07-6178-B910-583E2B37FA55}"/>
              </a:ext>
            </a:extLst>
          </p:cNvPr>
          <p:cNvSpPr txBox="1"/>
          <p:nvPr/>
        </p:nvSpPr>
        <p:spPr>
          <a:xfrm>
            <a:off x="6489700" y="438785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抢攻触发的特效</a:t>
            </a:r>
          </a:p>
        </p:txBody>
      </p:sp>
      <p:pic>
        <p:nvPicPr>
          <p:cNvPr id="13" name="原先流程">
            <a:hlinkClick r:id="" action="ppaction://media"/>
            <a:extLst>
              <a:ext uri="{FF2B5EF4-FFF2-40B4-BE49-F238E27FC236}">
                <a16:creationId xmlns:a16="http://schemas.microsoft.com/office/drawing/2014/main" id="{2FBE5020-7AFE-E0CF-DF82-2D2B2CAE08A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954514" y="4413766"/>
            <a:ext cx="3450679" cy="145263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7CB5E15-F135-07E2-4C30-2F3F031AD9F1}"/>
              </a:ext>
            </a:extLst>
          </p:cNvPr>
          <p:cNvSpPr txBox="1"/>
          <p:nvPr/>
        </p:nvSpPr>
        <p:spPr>
          <a:xfrm>
            <a:off x="520700" y="42291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例子</a:t>
            </a:r>
          </a:p>
        </p:txBody>
      </p:sp>
    </p:spTree>
    <p:extLst>
      <p:ext uri="{BB962C8B-B14F-4D97-AF65-F5344CB8AC3E}">
        <p14:creationId xmlns:p14="http://schemas.microsoft.com/office/powerpoint/2010/main" val="156479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4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29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E7A5569-40B7-C3BB-9409-4EAAF8C806E5}"/>
              </a:ext>
            </a:extLst>
          </p:cNvPr>
          <p:cNvSpPr txBox="1"/>
          <p:nvPr/>
        </p:nvSpPr>
        <p:spPr>
          <a:xfrm>
            <a:off x="352425" y="24765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先手</a:t>
            </a:r>
            <a:r>
              <a:rPr lang="en-US" altLang="zh-CN" dirty="0"/>
              <a:t>——</a:t>
            </a:r>
            <a:r>
              <a:rPr lang="zh-CN" altLang="en-US" dirty="0"/>
              <a:t>抢攻阶段修改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039F37-C388-CCA2-E419-DD5EE8654B4D}"/>
              </a:ext>
            </a:extLst>
          </p:cNvPr>
          <p:cNvSpPr txBox="1"/>
          <p:nvPr/>
        </p:nvSpPr>
        <p:spPr>
          <a:xfrm>
            <a:off x="352425" y="819850"/>
            <a:ext cx="11511302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>
                <a:solidFill>
                  <a:schemeClr val="bg1"/>
                </a:solidFill>
              </a:rPr>
              <a:t>1.</a:t>
            </a:r>
            <a:r>
              <a:rPr lang="zh-CN" altLang="zh-CN" dirty="0">
                <a:solidFill>
                  <a:schemeClr val="bg1"/>
                </a:solidFill>
              </a:rPr>
              <a:t>战斗开始阶段：在进入战斗后，战斗开始时的技能会先触发，优先级为大圣技能</a:t>
            </a:r>
            <a:r>
              <a:rPr lang="en-US" altLang="zh-CN" dirty="0">
                <a:solidFill>
                  <a:schemeClr val="bg1"/>
                </a:solidFill>
              </a:rPr>
              <a:t>&gt;</a:t>
            </a:r>
            <a:r>
              <a:rPr lang="zh-CN" altLang="zh-CN" dirty="0">
                <a:solidFill>
                  <a:schemeClr val="bg1"/>
                </a:solidFill>
              </a:rPr>
              <a:t>神通技能</a:t>
            </a:r>
            <a:r>
              <a:rPr lang="en-US" altLang="zh-CN" dirty="0">
                <a:solidFill>
                  <a:schemeClr val="bg1"/>
                </a:solidFill>
              </a:rPr>
              <a:t>&gt;</a:t>
            </a:r>
            <a:r>
              <a:rPr lang="zh-CN" altLang="zh-CN" dirty="0">
                <a:solidFill>
                  <a:schemeClr val="bg1"/>
                </a:solidFill>
              </a:rPr>
              <a:t>法宝技能。若双方大圣都有战斗开始时技能则随机一方先触发。</a:t>
            </a:r>
          </a:p>
          <a:p>
            <a:pPr lvl="0"/>
            <a:r>
              <a:rPr lang="en-US" altLang="zh-CN" dirty="0">
                <a:solidFill>
                  <a:schemeClr val="bg1"/>
                </a:solidFill>
              </a:rPr>
              <a:t>2.</a:t>
            </a:r>
            <a:r>
              <a:rPr lang="zh-CN" altLang="en-US" dirty="0">
                <a:solidFill>
                  <a:schemeClr val="bg1"/>
                </a:solidFill>
              </a:rPr>
              <a:t>判定先攻</a:t>
            </a:r>
            <a:r>
              <a:rPr lang="zh-CN" altLang="zh-CN" dirty="0">
                <a:solidFill>
                  <a:schemeClr val="bg1"/>
                </a:solidFill>
              </a:rPr>
              <a:t>阶段：依据双方上阵部将数量决定哪方获得先手权——先发起攻击，若双方上阵部将数量相同，则随机一方获得先手权。若下场对战同一个对手，则交换先手权。</a:t>
            </a:r>
            <a:endParaRPr lang="en-US" altLang="zh-CN" dirty="0">
              <a:solidFill>
                <a:schemeClr val="bg1"/>
              </a:solidFill>
            </a:endParaRPr>
          </a:p>
          <a:p>
            <a:pPr lvl="0"/>
            <a:r>
              <a:rPr lang="en-US" altLang="zh-CN" dirty="0">
                <a:solidFill>
                  <a:schemeClr val="bg1"/>
                </a:solidFill>
              </a:rPr>
              <a:t>3.</a:t>
            </a:r>
            <a:r>
              <a:rPr lang="zh-CN" altLang="zh-CN" dirty="0">
                <a:solidFill>
                  <a:schemeClr val="bg1"/>
                </a:solidFill>
              </a:rPr>
              <a:t>抢攻阶段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r>
              <a:rPr lang="zh-CN" altLang="zh-CN" dirty="0">
                <a:solidFill>
                  <a:schemeClr val="bg1"/>
                </a:solidFill>
              </a:rPr>
              <a:t>此阶段会对场上存在的抢攻特性部将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zh-CN" altLang="en-US" dirty="0">
                <a:solidFill>
                  <a:schemeClr val="bg1"/>
                </a:solidFill>
              </a:rPr>
              <a:t>如地藏王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  <a:r>
              <a:rPr lang="zh-CN" altLang="zh-CN" dirty="0">
                <a:solidFill>
                  <a:schemeClr val="bg1"/>
                </a:solidFill>
              </a:rPr>
              <a:t>进行判定，带有抢攻特性的部将可以在先手攻击前先触发其抢功效果，抢功触发的先后根据部将自身的攻击力高低进行依次排序，若攻击力相同则根据从左到右顺序排序，若全部相同则随机。</a:t>
            </a:r>
            <a:endParaRPr lang="en-US" altLang="zh-CN" dirty="0">
              <a:solidFill>
                <a:schemeClr val="bg1"/>
              </a:solidFill>
            </a:endParaRPr>
          </a:p>
          <a:p>
            <a:pPr lvl="0"/>
            <a:r>
              <a:rPr lang="en-US" altLang="zh-CN" dirty="0">
                <a:solidFill>
                  <a:schemeClr val="bg1"/>
                </a:solidFill>
              </a:rPr>
              <a:t>4.</a:t>
            </a:r>
            <a:r>
              <a:rPr lang="zh-CN" altLang="zh-CN" dirty="0">
                <a:solidFill>
                  <a:schemeClr val="bg1"/>
                </a:solidFill>
              </a:rPr>
              <a:t>攻击阶段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r>
              <a:rPr lang="zh-CN" altLang="zh-CN" dirty="0">
                <a:solidFill>
                  <a:schemeClr val="bg1"/>
                </a:solidFill>
              </a:rPr>
              <a:t>在抢攻阶段结束后进入攻击阶段，获得先手权的玩家的左侧第一个部将先发起进攻。</a:t>
            </a:r>
          </a:p>
        </p:txBody>
      </p:sp>
      <p:pic>
        <p:nvPicPr>
          <p:cNvPr id="11" name="movie_275">
            <a:hlinkClick r:id="" action="ppaction://media"/>
            <a:extLst>
              <a:ext uri="{FF2B5EF4-FFF2-40B4-BE49-F238E27FC236}">
                <a16:creationId xmlns:a16="http://schemas.microsoft.com/office/drawing/2014/main" id="{AF663AE9-D78E-D1F6-C02A-4732BA01477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9982" y="3331042"/>
            <a:ext cx="2720623" cy="15303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5901428-DA07-6178-B910-583E2B37FA55}"/>
              </a:ext>
            </a:extLst>
          </p:cNvPr>
          <p:cNvSpPr txBox="1"/>
          <p:nvPr/>
        </p:nvSpPr>
        <p:spPr>
          <a:xfrm>
            <a:off x="6464300" y="336049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抢攻触发的特效</a:t>
            </a:r>
          </a:p>
        </p:txBody>
      </p:sp>
      <p:pic>
        <p:nvPicPr>
          <p:cNvPr id="13" name="原先流程">
            <a:hlinkClick r:id="" action="ppaction://media"/>
            <a:extLst>
              <a:ext uri="{FF2B5EF4-FFF2-40B4-BE49-F238E27FC236}">
                <a16:creationId xmlns:a16="http://schemas.microsoft.com/office/drawing/2014/main" id="{2FBE5020-7AFE-E0CF-DF82-2D2B2CAE08A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459220" y="3204014"/>
            <a:ext cx="3450679" cy="145263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7CB5E15-F135-07E2-4C30-2F3F031AD9F1}"/>
              </a:ext>
            </a:extLst>
          </p:cNvPr>
          <p:cNvSpPr txBox="1"/>
          <p:nvPr/>
        </p:nvSpPr>
        <p:spPr>
          <a:xfrm>
            <a:off x="469900" y="32040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0D7870-5C88-29C4-6669-FB6B4FEC2257}"/>
              </a:ext>
            </a:extLst>
          </p:cNvPr>
          <p:cNvSpPr txBox="1"/>
          <p:nvPr/>
        </p:nvSpPr>
        <p:spPr>
          <a:xfrm>
            <a:off x="694521" y="5093713"/>
            <a:ext cx="1126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如例子中显示，在地藏触发前先判定哪一边的部将能获得先攻击的权利，然后进入地藏触发的阶段</a:t>
            </a:r>
            <a:r>
              <a:rPr lang="en-US" altLang="zh-CN" dirty="0"/>
              <a:t>(</a:t>
            </a:r>
            <a:r>
              <a:rPr lang="zh-CN" altLang="en-US" dirty="0"/>
              <a:t>抢攻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这一阶段谁的抢攻部将先动取决于攻击力大小。</a:t>
            </a:r>
            <a:br>
              <a:rPr lang="en-US" altLang="zh-CN" dirty="0"/>
            </a:br>
            <a:r>
              <a:rPr lang="zh-CN" altLang="en-US" dirty="0"/>
              <a:t>在这一阶段抢攻所导致的一系列结算结束后，进入正常的攻击阶段，也就是双方的左一部将发起进攻的阶段，</a:t>
            </a:r>
            <a:br>
              <a:rPr lang="en-US" altLang="zh-CN" dirty="0"/>
            </a:br>
            <a:r>
              <a:rPr lang="zh-CN" altLang="en-US" dirty="0"/>
              <a:t>此时谁先动取决于判定先攻阶段的结果。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2614DA-BDB6-BA80-BD5A-E63DAC6D802F}"/>
              </a:ext>
            </a:extLst>
          </p:cNvPr>
          <p:cNvSpPr txBox="1"/>
          <p:nvPr/>
        </p:nvSpPr>
        <p:spPr>
          <a:xfrm>
            <a:off x="6464300" y="3779532"/>
            <a:ext cx="1770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特效命名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zh-CN" altLang="zh-CN" dirty="0"/>
              <a:t>e_BattleCard_</a:t>
            </a:r>
            <a:r>
              <a:rPr lang="en-US" altLang="zh-CN" dirty="0"/>
              <a:t>72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99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4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29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803</Words>
  <Application>Microsoft Office PowerPoint</Application>
  <PresentationFormat>宽屏</PresentationFormat>
  <Paragraphs>17</Paragraphs>
  <Slides>2</Slides>
  <Notes>0</Notes>
  <HiddenSlides>0</HiddenSlides>
  <MMClips>4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11</cp:revision>
  <dcterms:created xsi:type="dcterms:W3CDTF">2026-08-05T10:55:09Z</dcterms:created>
  <dcterms:modified xsi:type="dcterms:W3CDTF">2026-08-11T08:52:09Z</dcterms:modified>
</cp:coreProperties>
</file>